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7224617-CBA2-491C-8EF1-361C5F308F49}"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sldImg"/>
          </p:nvPr>
        </p:nvSpPr>
        <p:spPr>
          <a:xfrm>
            <a:off x="685800" y="1143000"/>
            <a:ext cx="5486040" cy="3085920"/>
          </a:xfrm>
          <a:prstGeom prst="rect">
            <a:avLst/>
          </a:prstGeom>
          <a:ln w="0">
            <a:noFill/>
          </a:ln>
        </p:spPr>
      </p:sp>
      <p:sp>
        <p:nvSpPr>
          <p:cNvPr id="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20 sec. "My project looks at the AI industry — specifically, what actually drove the revenue growth of the leading AI companies between early 2025 and early 2026."</a:t>
            </a:r>
            <a:endParaRPr lang="en-US" sz="2000" b="0" u="none" strike="noStrike">
              <a:solidFill>
                <a:srgbClr val="000000"/>
              </a:solidFill>
              <a:effectLst/>
              <a:uFillTx/>
              <a:latin typeface="Arial"/>
            </a:endParaRPr>
          </a:p>
        </p:txBody>
      </p:sp>
      <p:sp>
        <p:nvSpPr>
          <p:cNvPr id="7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9C0ED41-F4ED-41AC-8052-A786C3A2C15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sldImg"/>
          </p:nvPr>
        </p:nvSpPr>
        <p:spPr>
          <a:xfrm>
            <a:off x="685800" y="1143000"/>
            <a:ext cx="5486040" cy="3085920"/>
          </a:xfrm>
          <a:prstGeom prst="rect">
            <a:avLst/>
          </a:prstGeom>
          <a:ln w="0">
            <a:noFill/>
          </a:ln>
        </p:spPr>
      </p:sp>
      <p:sp>
        <p:nvSpPr>
          <p:cNvPr id="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60 sec. Say the cleaning note confidently — catching it is a strength. Handoff: "So — what did the revenue actually do?"</a:t>
            </a:r>
            <a:endParaRPr lang="en-US" sz="2000" b="0" u="none" strike="noStrike">
              <a:solidFill>
                <a:srgbClr val="000000"/>
              </a:solidFill>
              <a:effectLst/>
              <a:uFillTx/>
              <a:latin typeface="Arial"/>
            </a:endParaRPr>
          </a:p>
        </p:txBody>
      </p:sp>
      <p:sp>
        <p:nvSpPr>
          <p:cNvPr id="7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86DC0A-967F-4401-8225-CDA846C3F9D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ldImg"/>
          </p:nvPr>
        </p:nvSpPr>
        <p:spPr>
          <a:xfrm>
            <a:off x="685800" y="1143000"/>
            <a:ext cx="5486040" cy="3085920"/>
          </a:xfrm>
          <a:prstGeom prst="rect">
            <a:avLst/>
          </a:prstGeom>
          <a:ln w="0">
            <a:noFill/>
          </a:ln>
        </p:spPr>
      </p:sp>
      <p:sp>
        <p:nvSpPr>
          <p:cNvPr id="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90 sec. "All four grew. But not remotely equally. Anthropic grew nearly fourteen times over. OpenAI just under three. Nvidia and Google, both already enormous, grew under two. So the smallest company grew fastest — by a wide margin. That is the puzzle I wanted to explain."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Caveat aloud: neither OpenAI nor Anthropic reports quarterly revenue, so both baselines are press estimates. OpenAI's $2.0B for Q1 2025 is triangulated from $4.3B reported for H1 2025, ~$8B ARR in March 2025, and OpenAI's own statement of $1B per quarter at end-2024. Anthropic's $0.35B is the softest number in the deck — the ordering holds under any estimate, the precise multiple does not.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Handoff: "Before I explain why, here is the dashboard where you can explore all of this."</a:t>
            </a:r>
            <a:endParaRPr lang="en-US" sz="2000" b="0" u="none" strike="noStrike">
              <a:solidFill>
                <a:srgbClr val="000000"/>
              </a:solidFill>
              <a:effectLst/>
              <a:uFillTx/>
              <a:latin typeface="Arial"/>
            </a:endParaRPr>
          </a:p>
        </p:txBody>
      </p:sp>
      <p:sp>
        <p:nvSpPr>
          <p:cNvPr id="7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868E22-D5B9-4A2C-854C-D7B9C318672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Img"/>
          </p:nvPr>
        </p:nvSpPr>
        <p:spPr>
          <a:xfrm>
            <a:off x="685800" y="1143000"/>
            <a:ext cx="5486040" cy="3085920"/>
          </a:xfrm>
          <a:prstGeom prst="rect">
            <a:avLst/>
          </a:prstGeom>
          <a:ln w="0">
            <a:noFill/>
          </a:ln>
        </p:spPr>
      </p:sp>
      <p:sp>
        <p:nvSpPr>
          <p:cNvPr id="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Pause. 5-10 seconds. Let the question land before you answer it. This is the hinge of the whole talk.</a:t>
            </a:r>
            <a:endParaRPr lang="en-US" sz="2000" b="0" u="none" strike="noStrike">
              <a:solidFill>
                <a:srgbClr val="000000"/>
              </a:solidFill>
              <a:effectLst/>
              <a:uFillTx/>
              <a:latin typeface="Arial"/>
            </a:endParaRPr>
          </a:p>
        </p:txBody>
      </p:sp>
      <p:sp>
        <p:nvSpPr>
          <p:cNvPr id="8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F855608-17D9-49B7-A652-A6C88BDA09E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685800" y="1143000"/>
            <a:ext cx="5486040" cy="3085920"/>
          </a:xfrm>
          <a:prstGeom prst="rect">
            <a:avLst/>
          </a:prstGeom>
          <a:ln w="0">
            <a:noFill/>
          </a:ln>
        </p:spPr>
      </p:sp>
      <p:sp>
        <p:nvSpPr>
          <p:cNvPr id="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 min — THE CENTRE OF THE PROJECT. Slow down.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"Every model here scores at least 85 on MMLU — a standard benchmark where a human expert scores about 90. So every dot is roughly expert-level. In 2023 the cheapest way to buy that cost $30 per million tokens. By 2025 it cost 40 cents."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"Notice the expensive options did not disappear — the ceiling stayed. What changed is that the floor fell out."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Method line: "A simple year-on-year comparison shows no trend at all. You only see this when you compare models of equal capability. Holding capability constant, price fell roughly 80 to 90 percent per year — and that held under every benchmark I tested."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Handoff: "Which raises an obvious question. If prices collapsed like that, why did revenue go UP?"</a:t>
            </a:r>
            <a:endParaRPr lang="en-US" sz="2000" b="0" u="none" strike="noStrike">
              <a:solidFill>
                <a:srgbClr val="000000"/>
              </a:solidFill>
              <a:effectLst/>
              <a:uFillTx/>
              <a:latin typeface="Arial"/>
            </a:endParaRPr>
          </a:p>
        </p:txBody>
      </p:sp>
      <p:sp>
        <p:nvSpPr>
          <p:cNvPr id="8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49BA0D-84DD-4BF2-AF55-3DCC2110D81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685800" y="1143000"/>
            <a:ext cx="5486040" cy="3085920"/>
          </a:xfrm>
          <a:prstGeom prst="rect">
            <a:avLst/>
          </a:prstGeom>
          <a:ln w="0">
            <a:noFill/>
          </a:ln>
        </p:spPr>
      </p:sp>
      <p:sp>
        <p:nvSpPr>
          <p:cNvPr id="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Pause. You have just shown the collapse; now you explain it.</a:t>
            </a:r>
            <a:endParaRPr lang="en-US" sz="2000" b="0" u="none" strike="noStrike">
              <a:solidFill>
                <a:srgbClr val="000000"/>
              </a:solidFill>
              <a:effectLst/>
              <a:uFillTx/>
              <a:latin typeface="Arial"/>
            </a:endParaRPr>
          </a:p>
        </p:txBody>
      </p:sp>
      <p:sp>
        <p:nvSpPr>
          <p:cNvPr id="8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5627CBF-F2E7-4473-9599-8CA18FA494F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685800" y="1143000"/>
            <a:ext cx="5486040" cy="3085920"/>
          </a:xfrm>
          <a:prstGeom prst="rect">
            <a:avLst/>
          </a:prstGeom>
          <a:ln w="0">
            <a:noFill/>
          </a:ln>
        </p:spPr>
      </p:sp>
      <p:sp>
        <p:nvSpPr>
          <p:cNvPr id="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75 sec. "Why did the floor fall? In 2023 exactly one company could sell a model at expert level, and it charged thirty dollars. By 2024 five could, and the cheapest was a dollar ten."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Be precise about what this is: "I tested whether competition explains price better than time alone. It fits marginally better — but competitor count and time are 97 percent correlated, so no test can separate them. This is what the market looked like, not a proven cause."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Worth adding: not everyone cut. Anthropic and xAI held at $15 both years and competed on capability instead. Google went $10.50 to $0.40.</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Handoff: "So prices collapsed. Why did revenue go UP?"</a:t>
            </a:r>
            <a:endParaRPr lang="en-US" sz="2000" b="0" u="none" strike="noStrike">
              <a:solidFill>
                <a:srgbClr val="000000"/>
              </a:solidFill>
              <a:effectLst/>
              <a:uFillTx/>
              <a:latin typeface="Arial"/>
            </a:endParaRPr>
          </a:p>
        </p:txBody>
      </p:sp>
      <p:sp>
        <p:nvSpPr>
          <p:cNvPr id="9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46E2A0-DD55-4D2F-B135-068E2603276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685800" y="1143000"/>
            <a:ext cx="5486040" cy="3085920"/>
          </a:xfrm>
          <a:prstGeom prst="rect">
            <a:avLst/>
          </a:prstGeom>
          <a:ln w="0">
            <a:noFill/>
          </a:ln>
        </p:spPr>
      </p:sp>
      <p:sp>
        <p:nvSpPr>
          <p:cNvPr id="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Pause. This is the question the audience should already be asking. Naming it out loud shows you saw it too.</a:t>
            </a:r>
            <a:endParaRPr lang="en-US" sz="2000" b="0" u="none" strike="noStrike">
              <a:solidFill>
                <a:srgbClr val="000000"/>
              </a:solidFill>
              <a:effectLst/>
              <a:uFillTx/>
              <a:latin typeface="Arial"/>
            </a:endParaRPr>
          </a:p>
        </p:txBody>
      </p:sp>
      <p:sp>
        <p:nvSpPr>
          <p:cNvPr id="9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519858-631F-4601-9F15-C56D7DA6CED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685800" y="1143000"/>
            <a:ext cx="5486040" cy="3085920"/>
          </a:xfrm>
          <a:prstGeom prst="rect">
            <a:avLst/>
          </a:prstGeom>
          <a:ln w="0">
            <a:noFill/>
          </a:ln>
        </p:spPr>
      </p:sp>
      <p:sp>
        <p:nvSpPr>
          <p:cNvPr id="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 min. "The answer is volume. For OpenAI, revenue grew about eight times between 2023 and 2025, while the price of capability fell somewhere between 75 and 100 times. For both to be true, usage had to grow by two to three orders of magnitude — roughly a hundred to a thousand times over."</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"Customers did not buy a little more when it got cheaper. They built things that were not affordable before. That is elastic demand — the price cut more than paid for itself."</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Handoff: "So where does all that extra usage actually go?"</a:t>
            </a:r>
            <a:endParaRPr lang="en-US" sz="2000" b="0" u="none" strike="noStrike">
              <a:solidFill>
                <a:srgbClr val="000000"/>
              </a:solidFill>
              <a:effectLst/>
              <a:uFillTx/>
              <a:latin typeface="Arial"/>
            </a:endParaRPr>
          </a:p>
        </p:txBody>
      </p:sp>
      <p:sp>
        <p:nvSpPr>
          <p:cNvPr id="9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A2ECC7-B8D4-4385-8C1C-305E33BC314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sldImg"/>
          </p:nvPr>
        </p:nvSpPr>
        <p:spPr>
          <a:xfrm>
            <a:off x="685800" y="1143000"/>
            <a:ext cx="5486040" cy="3085920"/>
          </a:xfrm>
          <a:prstGeom prst="rect">
            <a:avLst/>
          </a:prstGeom>
          <a:ln w="0">
            <a:noFill/>
          </a:ln>
        </p:spPr>
      </p:sp>
      <p:sp>
        <p:nvSpPr>
          <p:cNvPr id="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Pause. Bridges from an abstract number to something physical.</a:t>
            </a:r>
            <a:endParaRPr lang="en-US" sz="2000" b="0" u="none" strike="noStrike">
              <a:solidFill>
                <a:srgbClr val="000000"/>
              </a:solidFill>
              <a:effectLst/>
              <a:uFillTx/>
              <a:latin typeface="Arial"/>
            </a:endParaRPr>
          </a:p>
        </p:txBody>
      </p:sp>
      <p:sp>
        <p:nvSpPr>
          <p:cNvPr id="9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531BA5-B09B-482C-89AB-BE84FE1366D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Img"/>
          </p:nvPr>
        </p:nvSpPr>
        <p:spPr>
          <a:xfrm>
            <a:off x="685800" y="1143000"/>
            <a:ext cx="5486040" cy="3085920"/>
          </a:xfrm>
          <a:prstGeom prst="rect">
            <a:avLst/>
          </a:prstGeom>
          <a:ln w="0">
            <a:noFill/>
          </a:ln>
        </p:spPr>
      </p:sp>
      <p:sp>
        <p:nvSpPr>
          <p:cNvPr id="1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75 sec. "A thousandfold increase in usage is not abstract — that compute has to physically run somewhere. Here is what it looks like when it lands."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"Israel’s electricity regulator received data-centre grid connection requests totalling about 27 gigawatts — roughly three times the country’s average national demand. In 2026 it froze new connections for 140 days. Existing commitments already exhaust planned generating capacity through 2035."</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 am based here, which is how I noticed it. But the point is general: the constraint on AI growth may stop being capital and start being power."</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Handoff: "So what does all this add up to?"</a:t>
            </a:r>
            <a:endParaRPr lang="en-US" sz="2000" b="0" u="none" strike="noStrike">
              <a:solidFill>
                <a:srgbClr val="000000"/>
              </a:solidFill>
              <a:effectLst/>
              <a:uFillTx/>
              <a:latin typeface="Arial"/>
            </a:endParaRPr>
          </a:p>
        </p:txBody>
      </p:sp>
      <p:sp>
        <p:nvSpPr>
          <p:cNvPr id="10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274D54-0D0A-4020-AE3E-63A0DF5CBDD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685800" y="1143000"/>
            <a:ext cx="5486040" cy="3085920"/>
          </a:xfrm>
          <a:prstGeom prst="rect">
            <a:avLst/>
          </a:prstGeom>
          <a:ln w="0">
            <a:noFill/>
          </a:ln>
        </p:spPr>
      </p:sp>
      <p:sp>
        <p:nvSpPr>
          <p:cNvPr id="1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75 sec. Three points, no more. Handoff: "Which points to a few things worth doing next."</a:t>
            </a:r>
            <a:endParaRPr lang="en-US" sz="2000" b="0" u="none" strike="noStrike">
              <a:solidFill>
                <a:srgbClr val="000000"/>
              </a:solidFill>
              <a:effectLst/>
              <a:uFillTx/>
              <a:latin typeface="Arial"/>
            </a:endParaRPr>
          </a:p>
        </p:txBody>
      </p:sp>
      <p:sp>
        <p:nvSpPr>
          <p:cNvPr id="10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5E34009-61A2-40E6-824E-DC6916FCB5E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685800" y="1143000"/>
            <a:ext cx="5486040" cy="3085920"/>
          </a:xfrm>
          <a:prstGeom prst="rect">
            <a:avLst/>
          </a:prstGeom>
          <a:ln w="0">
            <a:noFill/>
          </a:ln>
        </p:spPr>
      </p:sp>
      <p:sp>
        <p:nvSpPr>
          <p:cNvPr id="1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90 sec. "My finding says cheaper capability drives disproportionately more usage. Here is how I would test that directly rather than inferring it. Group A stays on current pricing, 15 dollars per million tokens. Group B gets the same model at 5 dollars — a 67 percent cut. Both balanced on prior spend, tenure and industry."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"Hypothesis: volume in Group B rises more than 200 percent, so revenue per customer goes up despite each token earning a third as much. About 700 customers per group to detect a 15 percent difference, running 8 to 12 weeks. Threshold 0.05."</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If asked about the guardrail: "Gross margin. You could triple volume and still sell below cost."</a:t>
            </a:r>
            <a:endParaRPr lang="en-US" sz="2000" b="0" u="none" strike="noStrike">
              <a:solidFill>
                <a:srgbClr val="000000"/>
              </a:solidFill>
              <a:effectLst/>
              <a:uFillTx/>
              <a:latin typeface="Arial"/>
            </a:endParaRPr>
          </a:p>
        </p:txBody>
      </p:sp>
      <p:sp>
        <p:nvSpPr>
          <p:cNvPr id="10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B63D11-1DBB-40EC-9CBA-F5BA86E7AC6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sldImg"/>
          </p:nvPr>
        </p:nvSpPr>
        <p:spPr>
          <a:xfrm>
            <a:off x="685800" y="1143000"/>
            <a:ext cx="5486040" cy="3085920"/>
          </a:xfrm>
          <a:prstGeom prst="rect">
            <a:avLst/>
          </a:prstGeom>
          <a:ln w="0">
            <a:noFill/>
          </a:ln>
        </p:spPr>
      </p:sp>
      <p:sp>
        <p:nvSpPr>
          <p:cNvPr id="1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60 sec. Handoff: "And here is how I would test the central claim properly."</a:t>
            </a:r>
            <a:endParaRPr lang="en-US" sz="2000" b="0" u="none" strike="noStrike">
              <a:solidFill>
                <a:srgbClr val="000000"/>
              </a:solidFill>
              <a:effectLst/>
              <a:uFillTx/>
              <a:latin typeface="Arial"/>
            </a:endParaRPr>
          </a:p>
        </p:txBody>
      </p:sp>
      <p:sp>
        <p:nvSpPr>
          <p:cNvPr id="11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5466678-8B8E-4FA7-ACEE-7A2E890FA98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sldImg"/>
          </p:nvPr>
        </p:nvSpPr>
        <p:spPr>
          <a:xfrm>
            <a:off x="685800" y="1143000"/>
            <a:ext cx="5486040" cy="3085920"/>
          </a:xfrm>
          <a:prstGeom prst="rect">
            <a:avLst/>
          </a:prstGeom>
          <a:ln w="0">
            <a:noFill/>
          </a:ln>
        </p:spPr>
      </p:sp>
      <p:sp>
        <p:nvSpPr>
          <p:cNvPr id="1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60 sec. Walk through it live, point at two or three things, do not narrate every filter. The honest negative earns credit — say it out loud. Handoff: "Back to the puzzle. Why did revenue grow so unevenly?"</a:t>
            </a:r>
            <a:endParaRPr lang="en-US" sz="2000" b="0" u="none" strike="noStrike">
              <a:solidFill>
                <a:srgbClr val="000000"/>
              </a:solidFill>
              <a:effectLst/>
              <a:uFillTx/>
              <a:latin typeface="Arial"/>
            </a:endParaRPr>
          </a:p>
        </p:txBody>
      </p:sp>
      <p:sp>
        <p:nvSpPr>
          <p:cNvPr id="11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5C10FC-2FCE-4F1F-BC34-09665B0DD3E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685800" y="1143000"/>
            <a:ext cx="5486040" cy="3085920"/>
          </a:xfrm>
          <a:prstGeom prst="rect">
            <a:avLst/>
          </a:prstGeom>
          <a:ln w="0">
            <a:noFill/>
          </a:ln>
        </p:spPr>
      </p:sp>
      <p:sp>
        <p:nvSpPr>
          <p:cNvPr id="1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"That is my analysis — happy to take questions." Then use the Q&amp;A prep sheet.</a:t>
            </a:r>
            <a:endParaRPr lang="en-US" sz="2000" b="0" u="none" strike="noStrike">
              <a:solidFill>
                <a:srgbClr val="000000"/>
              </a:solidFill>
              <a:effectLst/>
              <a:uFillTx/>
              <a:latin typeface="Arial"/>
            </a:endParaRPr>
          </a:p>
        </p:txBody>
      </p:sp>
      <p:sp>
        <p:nvSpPr>
          <p:cNvPr id="11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C917BE-F25A-42B4-B648-2C4563EA48A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1.png"/><Relationship Id="rId3"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 name="Text 0"/>
          <p:cNvSpPr/>
          <p:nvPr/>
        </p:nvSpPr>
        <p:spPr>
          <a:xfrm>
            <a:off x="822960" y="1965960"/>
            <a:ext cx="10515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600" b="1" u="none" strike="noStrike">
                <a:solidFill>
                  <a:srgbClr val="FFFFFF"/>
                </a:solidFill>
                <a:effectLst/>
                <a:uFillTx/>
                <a:latin typeface="Cambria"/>
                <a:ea typeface="Cambria"/>
              </a:rPr>
              <a:t>The price of intelligence</a:t>
            </a:r>
            <a:endParaRPr lang="en-US" sz="4600" b="0" u="none" strike="noStrike">
              <a:solidFill>
                <a:srgbClr val="FFFFFF"/>
              </a:solidFill>
              <a:effectLst/>
              <a:uFillTx/>
              <a:latin typeface="Arial"/>
            </a:endParaRPr>
          </a:p>
        </p:txBody>
      </p:sp>
      <p:sp>
        <p:nvSpPr>
          <p:cNvPr id="11" name="Text 1"/>
          <p:cNvSpPr/>
          <p:nvPr/>
        </p:nvSpPr>
        <p:spPr>
          <a:xfrm>
            <a:off x="822960" y="2971800"/>
            <a:ext cx="10058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u="none" strike="noStrike">
                <a:solidFill>
                  <a:srgbClr val="C8D3E6"/>
                </a:solidFill>
                <a:effectLst/>
                <a:uFillTx/>
                <a:latin typeface="Calibri"/>
                <a:ea typeface="Calibri"/>
              </a:rPr>
              <a:t>What actually drove revenue growth at the leading AI companies</a:t>
            </a:r>
            <a:endParaRPr lang="en-US" sz="2000" b="0" u="none" strike="noStrike">
              <a:solidFill>
                <a:srgbClr val="FFFFFF"/>
              </a:solidFill>
              <a:effectLst/>
              <a:uFillTx/>
              <a:latin typeface="Arial"/>
            </a:endParaRPr>
          </a:p>
        </p:txBody>
      </p:sp>
      <p:sp>
        <p:nvSpPr>
          <p:cNvPr id="12" name="Shape 2"/>
          <p:cNvSpPr/>
          <p:nvPr/>
        </p:nvSpPr>
        <p:spPr>
          <a:xfrm>
            <a:off x="822960" y="3794760"/>
            <a:ext cx="1279800" cy="45360"/>
          </a:xfrm>
          <a:prstGeom prst="rect">
            <a:avLst/>
          </a:prstGeom>
          <a:solidFill>
            <a:srgbClr val="EB6834"/>
          </a:solidFill>
          <a:ln w="0">
            <a:noFill/>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
        <p:nvSpPr>
          <p:cNvPr id="13" name="Text 3"/>
          <p:cNvSpPr/>
          <p:nvPr/>
        </p:nvSpPr>
        <p:spPr>
          <a:xfrm>
            <a:off x="822960" y="4114800"/>
            <a:ext cx="10058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8FA3C0"/>
                </a:solidFill>
                <a:effectLst/>
                <a:uFillTx/>
                <a:latin typeface="Calibri"/>
                <a:ea typeface="Calibri"/>
              </a:rPr>
              <a:t>Data Research Analyst  ·  final project  ·  August 2026</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 name="Text 0"/>
          <p:cNvSpPr/>
          <p:nvPr/>
        </p:nvSpPr>
        <p:spPr>
          <a:xfrm>
            <a:off x="640080" y="292680"/>
            <a:ext cx="10881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pc="201" strike="noStrike">
                <a:solidFill>
                  <a:srgbClr val="5AA0FF"/>
                </a:solidFill>
                <a:effectLst/>
                <a:uFillTx/>
                <a:latin typeface="Calibri"/>
                <a:ea typeface="Calibri"/>
              </a:rPr>
              <a:t>RESEARCH QUESTION</a:t>
            </a:r>
            <a:endParaRPr lang="en-US" sz="1500" b="0" u="none" strike="noStrike">
              <a:solidFill>
                <a:srgbClr val="FFFFFF"/>
              </a:solidFill>
              <a:effectLst/>
              <a:uFillTx/>
              <a:latin typeface="Arial"/>
            </a:endParaRPr>
          </a:p>
        </p:txBody>
      </p:sp>
      <p:sp>
        <p:nvSpPr>
          <p:cNvPr id="15" name="Text 1"/>
          <p:cNvSpPr/>
          <p:nvPr/>
        </p:nvSpPr>
        <p:spPr>
          <a:xfrm>
            <a:off x="640080" y="411480"/>
            <a:ext cx="108810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500" b="1" u="none" strike="noStrike">
                <a:solidFill>
                  <a:srgbClr val="FFFFFF"/>
                </a:solidFill>
                <a:effectLst/>
                <a:uFillTx/>
                <a:latin typeface="Cambria"/>
                <a:ea typeface="Cambria"/>
              </a:rPr>
              <a:t>What drove the growth?</a:t>
            </a:r>
            <a:endParaRPr lang="en-US" sz="3500" b="0" u="none" strike="noStrike">
              <a:solidFill>
                <a:srgbClr val="FFFFFF"/>
              </a:solidFill>
              <a:effectLst/>
              <a:uFillTx/>
              <a:latin typeface="Arial"/>
            </a:endParaRPr>
          </a:p>
        </p:txBody>
      </p:sp>
      <p:sp>
        <p:nvSpPr>
          <p:cNvPr id="16" name="Text 2"/>
          <p:cNvSpPr/>
          <p:nvPr/>
        </p:nvSpPr>
        <p:spPr>
          <a:xfrm>
            <a:off x="640080" y="1463040"/>
            <a:ext cx="10881000" cy="118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0" i="1" u="none" strike="noStrike">
                <a:solidFill>
                  <a:srgbClr val="E6EDF9"/>
                </a:solidFill>
                <a:effectLst/>
                <a:uFillTx/>
                <a:latin typeface="Cambria"/>
                <a:ea typeface="Cambria"/>
              </a:rPr>
              <a:t>What are the main factors influencing revenue growth of leading AI companies following the launch of paid AI services, comparing Q1 2025 to Q1 2026?</a:t>
            </a:r>
            <a:endParaRPr lang="en-US" sz="2100" b="0" u="none" strike="noStrike">
              <a:solidFill>
                <a:srgbClr val="FFFFFF"/>
              </a:solidFill>
              <a:effectLst/>
              <a:uFillTx/>
              <a:latin typeface="Arial"/>
            </a:endParaRPr>
          </a:p>
        </p:txBody>
      </p:sp>
      <p:sp>
        <p:nvSpPr>
          <p:cNvPr id="17" name="Shape 3"/>
          <p:cNvSpPr/>
          <p:nvPr/>
        </p:nvSpPr>
        <p:spPr>
          <a:xfrm>
            <a:off x="640080" y="2880360"/>
            <a:ext cx="3840120" cy="1691280"/>
          </a:xfrm>
          <a:prstGeom prst="roundRect">
            <a:avLst>
              <a:gd name="adj" fmla="val 4324"/>
            </a:avLst>
          </a:prstGeom>
          <a:solidFill>
            <a:srgbClr val="16233A"/>
          </a:solidFill>
          <a:ln w="12700">
            <a:solidFill>
              <a:srgbClr val="1623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 name="Text 4"/>
          <p:cNvSpPr/>
          <p:nvPr/>
        </p:nvSpPr>
        <p:spPr>
          <a:xfrm>
            <a:off x="896040" y="3063240"/>
            <a:ext cx="32914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5AA0FF"/>
                </a:solidFill>
                <a:effectLst/>
                <a:uFillTx/>
                <a:latin typeface="Calibri"/>
                <a:ea typeface="Calibri"/>
              </a:rPr>
              <a:t>4 companies</a:t>
            </a:r>
            <a:endParaRPr lang="en-US" sz="2200" b="0" u="none" strike="noStrike">
              <a:solidFill>
                <a:srgbClr val="FFFFFF"/>
              </a:solidFill>
              <a:effectLst/>
              <a:uFillTx/>
              <a:latin typeface="Arial"/>
            </a:endParaRPr>
          </a:p>
        </p:txBody>
      </p:sp>
      <p:sp>
        <p:nvSpPr>
          <p:cNvPr id="19" name="Text 5"/>
          <p:cNvSpPr/>
          <p:nvPr/>
        </p:nvSpPr>
        <p:spPr>
          <a:xfrm>
            <a:off x="896040" y="3584520"/>
            <a:ext cx="329148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A3B4CE"/>
                </a:solidFill>
                <a:effectLst/>
                <a:uFillTx/>
                <a:latin typeface="Calibri"/>
                <a:ea typeface="Calibri"/>
              </a:rPr>
              <a:t>OpenAI, Anthropic,</a:t>
            </a:r>
            <a:endParaRPr lang="en-US" sz="1500" b="0" u="none" strike="noStrike">
              <a:solidFill>
                <a:srgbClr val="FFFFFF"/>
              </a:solidFill>
              <a:effectLst/>
              <a:uFillTx/>
              <a:latin typeface="Arial"/>
            </a:endParaRPr>
          </a:p>
          <a:p>
            <a:pPr defTabSz="914400">
              <a:lnSpc>
                <a:spcPct val="100000"/>
              </a:lnSpc>
              <a:tabLst>
                <a:tab pos="0" algn="l"/>
              </a:tabLst>
            </a:pPr>
            <a:r>
              <a:rPr lang="en-US" sz="1500" b="0" u="none" strike="noStrike">
                <a:solidFill>
                  <a:srgbClr val="A3B4CE"/>
                </a:solidFill>
                <a:effectLst/>
                <a:uFillTx/>
                <a:latin typeface="Calibri"/>
                <a:ea typeface="Calibri"/>
              </a:rPr>
              <a:t>Nvidia, Google</a:t>
            </a:r>
            <a:endParaRPr lang="en-US" sz="1500" b="0" u="none" strike="noStrike">
              <a:solidFill>
                <a:srgbClr val="FFFFFF"/>
              </a:solidFill>
              <a:effectLst/>
              <a:uFillTx/>
              <a:latin typeface="Arial"/>
            </a:endParaRPr>
          </a:p>
        </p:txBody>
      </p:sp>
      <p:sp>
        <p:nvSpPr>
          <p:cNvPr id="20" name="Shape 6"/>
          <p:cNvSpPr/>
          <p:nvPr/>
        </p:nvSpPr>
        <p:spPr>
          <a:xfrm>
            <a:off x="4846320" y="2880360"/>
            <a:ext cx="3840120" cy="1691280"/>
          </a:xfrm>
          <a:prstGeom prst="roundRect">
            <a:avLst>
              <a:gd name="adj" fmla="val 4324"/>
            </a:avLst>
          </a:prstGeom>
          <a:solidFill>
            <a:srgbClr val="16233A"/>
          </a:solidFill>
          <a:ln w="12700">
            <a:solidFill>
              <a:srgbClr val="1623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 name="Text 7"/>
          <p:cNvSpPr/>
          <p:nvPr/>
        </p:nvSpPr>
        <p:spPr>
          <a:xfrm>
            <a:off x="5102280" y="3063240"/>
            <a:ext cx="32914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5AA0FF"/>
                </a:solidFill>
                <a:effectLst/>
                <a:uFillTx/>
                <a:latin typeface="Calibri"/>
                <a:ea typeface="Calibri"/>
              </a:rPr>
              <a:t>2015 – 2026</a:t>
            </a:r>
            <a:endParaRPr lang="en-US" sz="2200" b="0" u="none" strike="noStrike">
              <a:solidFill>
                <a:srgbClr val="FFFFFF"/>
              </a:solidFill>
              <a:effectLst/>
              <a:uFillTx/>
              <a:latin typeface="Arial"/>
            </a:endParaRPr>
          </a:p>
        </p:txBody>
      </p:sp>
      <p:sp>
        <p:nvSpPr>
          <p:cNvPr id="22" name="Text 8"/>
          <p:cNvSpPr/>
          <p:nvPr/>
        </p:nvSpPr>
        <p:spPr>
          <a:xfrm>
            <a:off x="5102280" y="3584520"/>
            <a:ext cx="329148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A3B4CE"/>
                </a:solidFill>
                <a:effectLst/>
                <a:uFillTx/>
                <a:latin typeface="Calibri"/>
                <a:ea typeface="Calibri"/>
              </a:rPr>
              <a:t>daily market data;</a:t>
            </a:r>
            <a:endParaRPr lang="en-US" sz="1500" b="0" u="none" strike="noStrike">
              <a:solidFill>
                <a:srgbClr val="FFFFFF"/>
              </a:solidFill>
              <a:effectLst/>
              <a:uFillTx/>
              <a:latin typeface="Arial"/>
            </a:endParaRPr>
          </a:p>
          <a:p>
            <a:pPr defTabSz="914400">
              <a:lnSpc>
                <a:spcPct val="100000"/>
              </a:lnSpc>
              <a:tabLst>
                <a:tab pos="0" algn="l"/>
              </a:tabLst>
            </a:pPr>
            <a:r>
              <a:rPr lang="en-US" sz="1500" b="0" u="none" strike="noStrike">
                <a:solidFill>
                  <a:srgbClr val="A3B4CE"/>
                </a:solidFill>
                <a:effectLst/>
                <a:uFillTx/>
                <a:latin typeface="Calibri"/>
                <a:ea typeface="Calibri"/>
              </a:rPr>
              <a:t>models from 2020</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23" name="Image 0" descr="/mnt/user-data/outputs/slide4_revenue_growth.png"/>
          <p:cNvPicPr/>
          <p:nvPr/>
        </p:nvPicPr>
        <p:blipFill>
          <a:blip r:embed="rId2"/>
          <a:stretch/>
        </p:blipFill>
        <p:spPr>
          <a:xfrm>
            <a:off x="1212480" y="365760"/>
            <a:ext cx="9766440" cy="61261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4" name="Text 0"/>
          <p:cNvSpPr/>
          <p:nvPr/>
        </p:nvSpPr>
        <p:spPr>
          <a:xfrm>
            <a:off x="1005840" y="2514600"/>
            <a:ext cx="10149480" cy="1462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000" b="1" u="none" strike="noStrike">
                <a:solidFill>
                  <a:srgbClr val="FFFFFF"/>
                </a:solidFill>
                <a:effectLst/>
                <a:uFillTx/>
                <a:latin typeface="Cambria"/>
                <a:ea typeface="Cambria"/>
              </a:rPr>
              <a:t>So — why did revenue grow so unevenly?</a:t>
            </a:r>
            <a:endParaRPr lang="en-US" sz="4000" b="0" u="none" strike="noStrike">
              <a:solidFill>
                <a:srgbClr val="FFFFFF"/>
              </a:solidFill>
              <a:effectLst/>
              <a:uFillTx/>
              <a:latin typeface="Arial"/>
            </a:endParaRPr>
          </a:p>
        </p:txBody>
      </p:sp>
      <p:sp>
        <p:nvSpPr>
          <p:cNvPr id="25" name="Shape 1"/>
          <p:cNvSpPr/>
          <p:nvPr/>
        </p:nvSpPr>
        <p:spPr>
          <a:xfrm>
            <a:off x="1005840" y="2057400"/>
            <a:ext cx="1096920" cy="45360"/>
          </a:xfrm>
          <a:prstGeom prst="rect">
            <a:avLst/>
          </a:prstGeom>
          <a:solidFill>
            <a:srgbClr val="EB6834"/>
          </a:solidFill>
          <a:ln w="0">
            <a:noFill/>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26" name="Image 0" descr="/mnt/user-data/outputs/slide6_capability_price_band.png"/>
          <p:cNvPicPr/>
          <p:nvPr/>
        </p:nvPicPr>
        <p:blipFill>
          <a:blip r:embed="rId2"/>
          <a:stretch/>
        </p:blipFill>
        <p:spPr>
          <a:xfrm>
            <a:off x="1212480" y="365760"/>
            <a:ext cx="9766440" cy="61261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27" name="Image 0" descr="/mnt/user-data/outputs/slide6_capability_price_band.png"/>
          <p:cNvPicPr/>
          <p:nvPr/>
        </p:nvPicPr>
        <p:blipFill>
          <a:blip r:embed="rId2"/>
          <a:stretch/>
        </p:blipFill>
        <p:spPr>
          <a:xfrm>
            <a:off x="1212480" y="365760"/>
            <a:ext cx="9766440" cy="61261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8" name="Text 0"/>
          <p:cNvSpPr/>
          <p:nvPr/>
        </p:nvSpPr>
        <p:spPr>
          <a:xfrm>
            <a:off x="1005840" y="2514600"/>
            <a:ext cx="10149480" cy="1462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000" b="1" u="none" strike="noStrike">
                <a:solidFill>
                  <a:srgbClr val="FFFFFF"/>
                </a:solidFill>
                <a:effectLst/>
                <a:uFillTx/>
                <a:latin typeface="Cambria"/>
                <a:ea typeface="Cambria"/>
              </a:rPr>
              <a:t>Why did the floor fall?</a:t>
            </a:r>
            <a:endParaRPr lang="en-US" sz="4000" b="0" u="none" strike="noStrike">
              <a:solidFill>
                <a:srgbClr val="FFFFFF"/>
              </a:solidFill>
              <a:effectLst/>
              <a:uFillTx/>
              <a:latin typeface="Arial"/>
            </a:endParaRPr>
          </a:p>
        </p:txBody>
      </p:sp>
      <p:sp>
        <p:nvSpPr>
          <p:cNvPr id="29" name="Shape 1"/>
          <p:cNvSpPr/>
          <p:nvPr/>
        </p:nvSpPr>
        <p:spPr>
          <a:xfrm>
            <a:off x="1005840" y="2057400"/>
            <a:ext cx="1096920" cy="45360"/>
          </a:xfrm>
          <a:prstGeom prst="rect">
            <a:avLst/>
          </a:prstGeom>
          <a:solidFill>
            <a:srgbClr val="EB6834"/>
          </a:solidFill>
          <a:ln w="0">
            <a:noFill/>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30" name="Image 0" descr="/mnt/user-data/outputs/slide7_market_structure.png"/>
          <p:cNvPicPr/>
          <p:nvPr/>
        </p:nvPicPr>
        <p:blipFill>
          <a:blip r:embed="rId2"/>
          <a:stretch/>
        </p:blipFill>
        <p:spPr>
          <a:xfrm>
            <a:off x="1212480" y="365760"/>
            <a:ext cx="9766440" cy="61261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1" name="Text 0"/>
          <p:cNvSpPr/>
          <p:nvPr/>
        </p:nvSpPr>
        <p:spPr>
          <a:xfrm>
            <a:off x="1005840" y="2514600"/>
            <a:ext cx="10149480" cy="1462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000" b="1" u="none" strike="noStrike">
                <a:solidFill>
                  <a:srgbClr val="FFFFFF"/>
                </a:solidFill>
                <a:effectLst/>
                <a:uFillTx/>
                <a:latin typeface="Cambria"/>
                <a:ea typeface="Cambria"/>
              </a:rPr>
              <a:t>If prices collapsed, why did revenue rise?</a:t>
            </a:r>
            <a:endParaRPr lang="en-US" sz="4000" b="0" u="none" strike="noStrike">
              <a:solidFill>
                <a:srgbClr val="FFFFFF"/>
              </a:solidFill>
              <a:effectLst/>
              <a:uFillTx/>
              <a:latin typeface="Arial"/>
            </a:endParaRPr>
          </a:p>
        </p:txBody>
      </p:sp>
      <p:sp>
        <p:nvSpPr>
          <p:cNvPr id="32" name="Shape 1"/>
          <p:cNvSpPr/>
          <p:nvPr/>
        </p:nvSpPr>
        <p:spPr>
          <a:xfrm>
            <a:off x="1005840" y="2057400"/>
            <a:ext cx="1096920" cy="45360"/>
          </a:xfrm>
          <a:prstGeom prst="rect">
            <a:avLst/>
          </a:prstGeom>
          <a:solidFill>
            <a:srgbClr val="EB6834"/>
          </a:solidFill>
          <a:ln w="0">
            <a:noFill/>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33" name="Image 0" descr="/mnt/user-data/outputs/slide8_volume_mechanism.png"/>
          <p:cNvPicPr/>
          <p:nvPr/>
        </p:nvPicPr>
        <p:blipFill>
          <a:blip r:embed="rId2"/>
          <a:stretch/>
        </p:blipFill>
        <p:spPr>
          <a:xfrm>
            <a:off x="1212480" y="365760"/>
            <a:ext cx="9766440" cy="61261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4" name="Text 0"/>
          <p:cNvSpPr/>
          <p:nvPr/>
        </p:nvSpPr>
        <p:spPr>
          <a:xfrm>
            <a:off x="1005840" y="2514600"/>
            <a:ext cx="10149480" cy="1462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000" b="1" u="none" strike="noStrike">
                <a:solidFill>
                  <a:srgbClr val="FFFFFF"/>
                </a:solidFill>
                <a:effectLst/>
                <a:uFillTx/>
                <a:latin typeface="Cambria"/>
                <a:ea typeface="Cambria"/>
              </a:rPr>
              <a:t>Where does all that extra usage actually go?</a:t>
            </a:r>
            <a:endParaRPr lang="en-US" sz="4000" b="0" u="none" strike="noStrike">
              <a:solidFill>
                <a:srgbClr val="FFFFFF"/>
              </a:solidFill>
              <a:effectLst/>
              <a:uFillTx/>
              <a:latin typeface="Arial"/>
            </a:endParaRPr>
          </a:p>
        </p:txBody>
      </p:sp>
      <p:sp>
        <p:nvSpPr>
          <p:cNvPr id="35" name="Shape 1"/>
          <p:cNvSpPr/>
          <p:nvPr/>
        </p:nvSpPr>
        <p:spPr>
          <a:xfrm>
            <a:off x="1005840" y="2057400"/>
            <a:ext cx="1096920" cy="45360"/>
          </a:xfrm>
          <a:prstGeom prst="rect">
            <a:avLst/>
          </a:prstGeom>
          <a:solidFill>
            <a:srgbClr val="EB6834"/>
          </a:solidFill>
          <a:ln w="0">
            <a:noFill/>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36" name="Image 0" descr="/mnt/user-data/outputs/slide9_israel_footprint.png"/>
          <p:cNvPicPr/>
          <p:nvPr/>
        </p:nvPicPr>
        <p:blipFill>
          <a:blip r:embed="rId2"/>
          <a:stretch/>
        </p:blipFill>
        <p:spPr>
          <a:xfrm>
            <a:off x="1212480" y="365760"/>
            <a:ext cx="9766440" cy="612612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7" name="Text 0"/>
          <p:cNvSpPr/>
          <p:nvPr/>
        </p:nvSpPr>
        <p:spPr>
          <a:xfrm>
            <a:off x="640080" y="292680"/>
            <a:ext cx="10881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pc="201" strike="noStrike">
                <a:solidFill>
                  <a:srgbClr val="9CC4F5"/>
                </a:solidFill>
                <a:effectLst/>
                <a:uFillTx/>
                <a:latin typeface="Calibri"/>
                <a:ea typeface="Calibri"/>
              </a:rPr>
              <a:t>CONCLUSIONS</a:t>
            </a:r>
            <a:endParaRPr lang="en-US" sz="1500" b="0" u="none" strike="noStrike">
              <a:solidFill>
                <a:srgbClr val="FFFFFF"/>
              </a:solidFill>
              <a:effectLst/>
              <a:uFillTx/>
              <a:latin typeface="Arial"/>
            </a:endParaRPr>
          </a:p>
        </p:txBody>
      </p:sp>
      <p:sp>
        <p:nvSpPr>
          <p:cNvPr id="38" name="Text 1"/>
          <p:cNvSpPr/>
          <p:nvPr/>
        </p:nvSpPr>
        <p:spPr>
          <a:xfrm>
            <a:off x="640080" y="411480"/>
            <a:ext cx="108810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500" b="1" u="none" strike="noStrike">
                <a:solidFill>
                  <a:srgbClr val="FFFFFF"/>
                </a:solidFill>
                <a:effectLst/>
                <a:uFillTx/>
                <a:latin typeface="Cambria"/>
                <a:ea typeface="Cambria"/>
              </a:rPr>
              <a:t>What the data shows</a:t>
            </a:r>
            <a:endParaRPr lang="en-US" sz="3500" b="0" u="none" strike="noStrike">
              <a:solidFill>
                <a:srgbClr val="FFFFFF"/>
              </a:solidFill>
              <a:effectLst/>
              <a:uFillTx/>
              <a:latin typeface="Arial"/>
            </a:endParaRPr>
          </a:p>
        </p:txBody>
      </p:sp>
      <p:sp>
        <p:nvSpPr>
          <p:cNvPr id="39" name="Text 2"/>
          <p:cNvSpPr/>
          <p:nvPr/>
        </p:nvSpPr>
        <p:spPr>
          <a:xfrm>
            <a:off x="685800" y="1737360"/>
            <a:ext cx="9140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EB6834"/>
                </a:solidFill>
                <a:effectLst/>
                <a:uFillTx/>
                <a:latin typeface="Cambria"/>
                <a:ea typeface="Cambria"/>
              </a:rPr>
              <a:t>01</a:t>
            </a:r>
            <a:endParaRPr lang="en-US" sz="3400" b="0" u="none" strike="noStrike">
              <a:solidFill>
                <a:srgbClr val="FFFFFF"/>
              </a:solidFill>
              <a:effectLst/>
              <a:uFillTx/>
              <a:latin typeface="Arial"/>
            </a:endParaRPr>
          </a:p>
        </p:txBody>
      </p:sp>
      <p:sp>
        <p:nvSpPr>
          <p:cNvPr id="40" name="Text 3"/>
          <p:cNvSpPr/>
          <p:nvPr/>
        </p:nvSpPr>
        <p:spPr>
          <a:xfrm>
            <a:off x="1691640" y="1755720"/>
            <a:ext cx="96922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The price of capability collapsed</a:t>
            </a:r>
            <a:endParaRPr lang="en-US" sz="2200" b="0" u="none" strike="noStrike">
              <a:solidFill>
                <a:srgbClr val="FFFFFF"/>
              </a:solidFill>
              <a:effectLst/>
              <a:uFillTx/>
              <a:latin typeface="Arial"/>
            </a:endParaRPr>
          </a:p>
        </p:txBody>
      </p:sp>
      <p:sp>
        <p:nvSpPr>
          <p:cNvPr id="41" name="Text 4"/>
          <p:cNvSpPr/>
          <p:nvPr/>
        </p:nvSpPr>
        <p:spPr>
          <a:xfrm>
            <a:off x="1691640" y="2212920"/>
            <a:ext cx="96922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C8D3E6"/>
                </a:solidFill>
                <a:effectLst/>
                <a:uFillTx/>
                <a:latin typeface="Calibri"/>
                <a:ea typeface="Calibri"/>
              </a:rPr>
              <a:t>Holding capability constant, price fell roughly 80–90% per year. Robust across four separate benchmarks.</a:t>
            </a:r>
            <a:endParaRPr lang="en-US" sz="1600" b="0" u="none" strike="noStrike">
              <a:solidFill>
                <a:srgbClr val="FFFFFF"/>
              </a:solidFill>
              <a:effectLst/>
              <a:uFillTx/>
              <a:latin typeface="Arial"/>
            </a:endParaRPr>
          </a:p>
        </p:txBody>
      </p:sp>
      <p:sp>
        <p:nvSpPr>
          <p:cNvPr id="42" name="Text 5"/>
          <p:cNvSpPr/>
          <p:nvPr/>
        </p:nvSpPr>
        <p:spPr>
          <a:xfrm>
            <a:off x="685800" y="3154680"/>
            <a:ext cx="9140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EB6834"/>
                </a:solidFill>
                <a:effectLst/>
                <a:uFillTx/>
                <a:latin typeface="Cambria"/>
                <a:ea typeface="Cambria"/>
              </a:rPr>
              <a:t>02</a:t>
            </a:r>
            <a:endParaRPr lang="en-US" sz="3400" b="0" u="none" strike="noStrike">
              <a:solidFill>
                <a:srgbClr val="FFFFFF"/>
              </a:solidFill>
              <a:effectLst/>
              <a:uFillTx/>
              <a:latin typeface="Arial"/>
            </a:endParaRPr>
          </a:p>
        </p:txBody>
      </p:sp>
      <p:sp>
        <p:nvSpPr>
          <p:cNvPr id="43" name="Text 6"/>
          <p:cNvSpPr/>
          <p:nvPr/>
        </p:nvSpPr>
        <p:spPr>
          <a:xfrm>
            <a:off x="1691640" y="3173040"/>
            <a:ext cx="96922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Revenue grew because volume grew faster</a:t>
            </a:r>
            <a:endParaRPr lang="en-US" sz="2200" b="0" u="none" strike="noStrike">
              <a:solidFill>
                <a:srgbClr val="FFFFFF"/>
              </a:solidFill>
              <a:effectLst/>
              <a:uFillTx/>
              <a:latin typeface="Arial"/>
            </a:endParaRPr>
          </a:p>
        </p:txBody>
      </p:sp>
      <p:sp>
        <p:nvSpPr>
          <p:cNvPr id="44" name="Text 7"/>
          <p:cNvSpPr/>
          <p:nvPr/>
        </p:nvSpPr>
        <p:spPr>
          <a:xfrm>
            <a:off x="1691640" y="3630240"/>
            <a:ext cx="96922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C8D3E6"/>
                </a:solidFill>
                <a:effectLst/>
                <a:uFillTx/>
                <a:latin typeface="Calibri"/>
                <a:ea typeface="Calibri"/>
              </a:rPr>
              <a:t>Usage rose by two to three orders of magnitude more than price fell. Demand was highly elastic.</a:t>
            </a:r>
            <a:endParaRPr lang="en-US" sz="1600" b="0" u="none" strike="noStrike">
              <a:solidFill>
                <a:srgbClr val="FFFFFF"/>
              </a:solidFill>
              <a:effectLst/>
              <a:uFillTx/>
              <a:latin typeface="Arial"/>
            </a:endParaRPr>
          </a:p>
        </p:txBody>
      </p:sp>
      <p:sp>
        <p:nvSpPr>
          <p:cNvPr id="45" name="Text 8"/>
          <p:cNvSpPr/>
          <p:nvPr/>
        </p:nvSpPr>
        <p:spPr>
          <a:xfrm>
            <a:off x="685800" y="4572000"/>
            <a:ext cx="9140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EB6834"/>
                </a:solidFill>
                <a:effectLst/>
                <a:uFillTx/>
                <a:latin typeface="Cambria"/>
                <a:ea typeface="Cambria"/>
              </a:rPr>
              <a:t>03</a:t>
            </a:r>
            <a:endParaRPr lang="en-US" sz="3400" b="0" u="none" strike="noStrike">
              <a:solidFill>
                <a:srgbClr val="FFFFFF"/>
              </a:solidFill>
              <a:effectLst/>
              <a:uFillTx/>
              <a:latin typeface="Arial"/>
            </a:endParaRPr>
          </a:p>
        </p:txBody>
      </p:sp>
      <p:sp>
        <p:nvSpPr>
          <p:cNvPr id="46" name="Text 9"/>
          <p:cNvSpPr/>
          <p:nvPr/>
        </p:nvSpPr>
        <p:spPr>
          <a:xfrm>
            <a:off x="1691640" y="4590360"/>
            <a:ext cx="96922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Infrastructure investment followed</a:t>
            </a:r>
            <a:endParaRPr lang="en-US" sz="2200" b="0" u="none" strike="noStrike">
              <a:solidFill>
                <a:srgbClr val="FFFFFF"/>
              </a:solidFill>
              <a:effectLst/>
              <a:uFillTx/>
              <a:latin typeface="Arial"/>
            </a:endParaRPr>
          </a:p>
        </p:txBody>
      </p:sp>
      <p:sp>
        <p:nvSpPr>
          <p:cNvPr id="47" name="Text 10"/>
          <p:cNvSpPr/>
          <p:nvPr/>
        </p:nvSpPr>
        <p:spPr>
          <a:xfrm>
            <a:off x="1691640" y="5047560"/>
            <a:ext cx="96922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C8D3E6"/>
                </a:solidFill>
                <a:effectLst/>
                <a:uFillTx/>
                <a:latin typeface="Calibri"/>
                <a:ea typeface="Calibri"/>
              </a:rPr>
              <a:t>Visible even locally — several billion dollars of American data centre investment in Israel.</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48" name="Image 0" descr="/mnt/user-data/outputs/slide12_ab_test_design.png"/>
          <p:cNvPicPr/>
          <p:nvPr/>
        </p:nvPicPr>
        <p:blipFill>
          <a:blip r:embed="rId2"/>
          <a:stretch/>
        </p:blipFill>
        <p:spPr>
          <a:xfrm>
            <a:off x="1212480" y="365760"/>
            <a:ext cx="9766440" cy="61261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49" name="Image 0" descr="/mnt/user-data/outputs/slide12_ab_test_design.png"/>
          <p:cNvPicPr/>
          <p:nvPr/>
        </p:nvPicPr>
        <p:blipFill>
          <a:blip r:embed="rId2"/>
          <a:stretch/>
        </p:blipFill>
        <p:spPr>
          <a:xfrm>
            <a:off x="1212480" y="365760"/>
            <a:ext cx="9766440" cy="612612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0" name="Text 0"/>
          <p:cNvSpPr/>
          <p:nvPr/>
        </p:nvSpPr>
        <p:spPr>
          <a:xfrm>
            <a:off x="640080" y="292680"/>
            <a:ext cx="10881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pc="201" strike="noStrike">
                <a:solidFill>
                  <a:srgbClr val="5AA0FF"/>
                </a:solidFill>
                <a:effectLst/>
                <a:uFillTx/>
                <a:latin typeface="Calibri"/>
                <a:ea typeface="Calibri"/>
              </a:rPr>
              <a:t>RECOMMENDATIONS</a:t>
            </a:r>
            <a:endParaRPr lang="en-US" sz="1500" b="0" u="none" strike="noStrike">
              <a:solidFill>
                <a:srgbClr val="FFFFFF"/>
              </a:solidFill>
              <a:effectLst/>
              <a:uFillTx/>
              <a:latin typeface="Arial"/>
            </a:endParaRPr>
          </a:p>
        </p:txBody>
      </p:sp>
      <p:sp>
        <p:nvSpPr>
          <p:cNvPr id="51" name="Text 1"/>
          <p:cNvSpPr/>
          <p:nvPr/>
        </p:nvSpPr>
        <p:spPr>
          <a:xfrm>
            <a:off x="640080" y="411480"/>
            <a:ext cx="108810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500" b="1" u="none" strike="noStrike">
                <a:solidFill>
                  <a:srgbClr val="FFFFFF"/>
                </a:solidFill>
                <a:effectLst/>
                <a:uFillTx/>
                <a:latin typeface="Cambria"/>
                <a:ea typeface="Cambria"/>
              </a:rPr>
              <a:t>What I would do with this</a:t>
            </a:r>
            <a:endParaRPr lang="en-US" sz="3500" b="0" u="none" strike="noStrike">
              <a:solidFill>
                <a:srgbClr val="FFFFFF"/>
              </a:solidFill>
              <a:effectLst/>
              <a:uFillTx/>
              <a:latin typeface="Arial"/>
            </a:endParaRPr>
          </a:p>
        </p:txBody>
      </p:sp>
      <p:sp>
        <p:nvSpPr>
          <p:cNvPr id="52" name="Shape 2"/>
          <p:cNvSpPr/>
          <p:nvPr/>
        </p:nvSpPr>
        <p:spPr>
          <a:xfrm>
            <a:off x="640080" y="1600200"/>
            <a:ext cx="10881000" cy="1325520"/>
          </a:xfrm>
          <a:prstGeom prst="roundRect">
            <a:avLst>
              <a:gd name="adj" fmla="val 5517"/>
            </a:avLst>
          </a:prstGeom>
          <a:solidFill>
            <a:srgbClr val="16233A"/>
          </a:solidFill>
          <a:ln w="12700">
            <a:solidFill>
              <a:srgbClr val="1623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 name="Text 3"/>
          <p:cNvSpPr/>
          <p:nvPr/>
        </p:nvSpPr>
        <p:spPr>
          <a:xfrm>
            <a:off x="914400" y="1728360"/>
            <a:ext cx="103323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5AA0FF"/>
                </a:solidFill>
                <a:effectLst/>
                <a:uFillTx/>
                <a:latin typeface="Calibri"/>
                <a:ea typeface="Calibri"/>
              </a:rPr>
              <a:t>For a company entering this market</a:t>
            </a:r>
            <a:endParaRPr lang="en-US" sz="1900" b="0" u="none" strike="noStrike">
              <a:solidFill>
                <a:srgbClr val="FFFFFF"/>
              </a:solidFill>
              <a:effectLst/>
              <a:uFillTx/>
              <a:latin typeface="Arial"/>
            </a:endParaRPr>
          </a:p>
        </p:txBody>
      </p:sp>
      <p:sp>
        <p:nvSpPr>
          <p:cNvPr id="54" name="Text 4"/>
          <p:cNvSpPr/>
          <p:nvPr/>
        </p:nvSpPr>
        <p:spPr>
          <a:xfrm>
            <a:off x="914400" y="2167200"/>
            <a:ext cx="103323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A3B4CE"/>
                </a:solidFill>
                <a:effectLst/>
                <a:uFillTx/>
                <a:latin typeface="Calibri"/>
                <a:ea typeface="Calibri"/>
              </a:rPr>
              <a:t>Price low and plan for volume: at expert level the revenue is in the hundredfold usage, not the margin per token. But verify elasticity before betting on it.</a:t>
            </a:r>
            <a:endParaRPr lang="en-US" sz="1600" b="0" u="none" strike="noStrike">
              <a:solidFill>
                <a:srgbClr val="FFFFFF"/>
              </a:solidFill>
              <a:effectLst/>
              <a:uFillTx/>
              <a:latin typeface="Arial"/>
            </a:endParaRPr>
          </a:p>
        </p:txBody>
      </p:sp>
      <p:sp>
        <p:nvSpPr>
          <p:cNvPr id="55" name="Shape 5"/>
          <p:cNvSpPr/>
          <p:nvPr/>
        </p:nvSpPr>
        <p:spPr>
          <a:xfrm>
            <a:off x="640080" y="3081600"/>
            <a:ext cx="10881000" cy="1325520"/>
          </a:xfrm>
          <a:prstGeom prst="roundRect">
            <a:avLst>
              <a:gd name="adj" fmla="val 5517"/>
            </a:avLst>
          </a:prstGeom>
          <a:solidFill>
            <a:srgbClr val="16233A"/>
          </a:solidFill>
          <a:ln w="12700">
            <a:solidFill>
              <a:srgbClr val="1623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 name="Text 6"/>
          <p:cNvSpPr/>
          <p:nvPr/>
        </p:nvSpPr>
        <p:spPr>
          <a:xfrm>
            <a:off x="914400" y="3209400"/>
            <a:ext cx="103323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5AA0FF"/>
                </a:solidFill>
                <a:effectLst/>
                <a:uFillTx/>
                <a:latin typeface="Calibri"/>
                <a:ea typeface="Calibri"/>
              </a:rPr>
              <a:t>Before scaling the price cut</a:t>
            </a:r>
            <a:endParaRPr lang="en-US" sz="1900" b="0" u="none" strike="noStrike">
              <a:solidFill>
                <a:srgbClr val="FFFFFF"/>
              </a:solidFill>
              <a:effectLst/>
              <a:uFillTx/>
              <a:latin typeface="Arial"/>
            </a:endParaRPr>
          </a:p>
        </p:txBody>
      </p:sp>
      <p:sp>
        <p:nvSpPr>
          <p:cNvPr id="57" name="Text 7"/>
          <p:cNvSpPr/>
          <p:nvPr/>
        </p:nvSpPr>
        <p:spPr>
          <a:xfrm>
            <a:off x="914400" y="3648600"/>
            <a:ext cx="103323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A3B4CE"/>
                </a:solidFill>
                <a:effectLst/>
                <a:uFillTx/>
                <a:latin typeface="Calibri"/>
                <a:ea typeface="Calibri"/>
              </a:rPr>
              <a:t>Run the A/B test first. The projected demand curve is a hypothesis, not a result — a real 8-to-12 week experiment would confirm whether volume actually clears the break-even line before rolling the cut out to everyone.</a:t>
            </a:r>
            <a:endParaRPr lang="en-US" sz="1600" b="0" u="none" strike="noStrike">
              <a:solidFill>
                <a:srgbClr val="FFFFFF"/>
              </a:solidFill>
              <a:effectLst/>
              <a:uFillTx/>
              <a:latin typeface="Arial"/>
            </a:endParaRPr>
          </a:p>
        </p:txBody>
      </p:sp>
      <p:sp>
        <p:nvSpPr>
          <p:cNvPr id="58" name="Shape 8"/>
          <p:cNvSpPr/>
          <p:nvPr/>
        </p:nvSpPr>
        <p:spPr>
          <a:xfrm>
            <a:off x="640080" y="4563000"/>
            <a:ext cx="10881000" cy="1325520"/>
          </a:xfrm>
          <a:prstGeom prst="roundRect">
            <a:avLst>
              <a:gd name="adj" fmla="val 5517"/>
            </a:avLst>
          </a:prstGeom>
          <a:solidFill>
            <a:srgbClr val="16233A"/>
          </a:solidFill>
          <a:ln w="12700">
            <a:solidFill>
              <a:srgbClr val="1623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 name="Text 9"/>
          <p:cNvSpPr/>
          <p:nvPr/>
        </p:nvSpPr>
        <p:spPr>
          <a:xfrm>
            <a:off x="914400" y="4690800"/>
            <a:ext cx="103323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5AA0FF"/>
                </a:solidFill>
                <a:effectLst/>
                <a:uFillTx/>
                <a:latin typeface="Calibri"/>
                <a:ea typeface="Calibri"/>
              </a:rPr>
              <a:t>For infrastructure planning</a:t>
            </a:r>
            <a:endParaRPr lang="en-US" sz="1900" b="0" u="none" strike="noStrike">
              <a:solidFill>
                <a:srgbClr val="FFFFFF"/>
              </a:solidFill>
              <a:effectLst/>
              <a:uFillTx/>
              <a:latin typeface="Arial"/>
            </a:endParaRPr>
          </a:p>
        </p:txBody>
      </p:sp>
      <p:sp>
        <p:nvSpPr>
          <p:cNvPr id="60" name="Text 10"/>
          <p:cNvSpPr/>
          <p:nvPr/>
        </p:nvSpPr>
        <p:spPr>
          <a:xfrm>
            <a:off x="914400" y="5129640"/>
            <a:ext cx="103323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A3B4CE"/>
                </a:solidFill>
                <a:effectLst/>
                <a:uFillTx/>
                <a:latin typeface="Calibri"/>
                <a:ea typeface="Calibri"/>
              </a:rPr>
              <a:t>Treat grid capacity as the scarce input and secure the power allocation before land and capital. In Israel the constraint bound at three times average demand before a single gigawatt was built.</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1" name="Text 0"/>
          <p:cNvSpPr/>
          <p:nvPr/>
        </p:nvSpPr>
        <p:spPr>
          <a:xfrm>
            <a:off x="640080" y="292680"/>
            <a:ext cx="10881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pc="201" strike="noStrike">
                <a:solidFill>
                  <a:srgbClr val="5AA0FF"/>
                </a:solidFill>
                <a:effectLst/>
                <a:uFillTx/>
                <a:latin typeface="Calibri"/>
                <a:ea typeface="Calibri"/>
              </a:rPr>
              <a:t>DASHBOARD</a:t>
            </a:r>
            <a:endParaRPr lang="en-US" sz="1500" b="0" u="none" strike="noStrike">
              <a:solidFill>
                <a:srgbClr val="FFFFFF"/>
              </a:solidFill>
              <a:effectLst/>
              <a:uFillTx/>
              <a:latin typeface="Arial"/>
            </a:endParaRPr>
          </a:p>
        </p:txBody>
      </p:sp>
      <p:sp>
        <p:nvSpPr>
          <p:cNvPr id="62" name="Text 1"/>
          <p:cNvSpPr/>
          <p:nvPr/>
        </p:nvSpPr>
        <p:spPr>
          <a:xfrm>
            <a:off x="640080" y="411480"/>
            <a:ext cx="108810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500" b="1" u="none" strike="noStrike">
                <a:solidFill>
                  <a:srgbClr val="FFFFFF"/>
                </a:solidFill>
                <a:effectLst/>
                <a:uFillTx/>
                <a:latin typeface="Cambria"/>
                <a:ea typeface="Cambria"/>
              </a:rPr>
              <a:t>Let’s explore the stock data</a:t>
            </a:r>
            <a:endParaRPr lang="en-US" sz="3500" b="0" u="none" strike="noStrike">
              <a:solidFill>
                <a:srgbClr val="FFFFFF"/>
              </a:solidFill>
              <a:effectLst/>
              <a:uFillTx/>
              <a:latin typeface="Arial"/>
            </a:endParaRPr>
          </a:p>
        </p:txBody>
      </p:sp>
      <p:sp>
        <p:nvSpPr>
          <p:cNvPr id="63" name="Shape 2"/>
          <p:cNvSpPr/>
          <p:nvPr/>
        </p:nvSpPr>
        <p:spPr>
          <a:xfrm>
            <a:off x="640080" y="1600200"/>
            <a:ext cx="10881000" cy="1645560"/>
          </a:xfrm>
          <a:prstGeom prst="roundRect">
            <a:avLst>
              <a:gd name="adj" fmla="val 4762"/>
            </a:avLst>
          </a:prstGeom>
          <a:solidFill>
            <a:srgbClr val="16233A"/>
          </a:solidFill>
          <a:ln w="12700">
            <a:solidFill>
              <a:srgbClr val="1623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 name="Text 3"/>
          <p:cNvSpPr/>
          <p:nvPr/>
        </p:nvSpPr>
        <p:spPr>
          <a:xfrm>
            <a:off x="1005840" y="1874520"/>
            <a:ext cx="1014948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sng" strike="noStrike">
                <a:solidFill>
                  <a:srgbClr val="0563C1"/>
                </a:solidFill>
                <a:effectLst/>
                <a:uFillTx/>
                <a:latin typeface="Calibri"/>
                <a:ea typeface="Calibri"/>
              </a:rPr>
              <a:t>https://public.tableau.com/app/profile/zoltan.wil/viz/The_Market_Layer_Complete/Themarketlayer1600x900#1</a:t>
            </a:r>
            <a:endParaRPr lang="en-US" sz="1600" b="0" u="none" strike="noStrike">
              <a:solidFill>
                <a:srgbClr val="FFFFFF"/>
              </a:solidFill>
              <a:effectLst/>
              <a:uFillTx/>
              <a:latin typeface="Arial"/>
            </a:endParaRPr>
          </a:p>
          <a:p>
            <a:pPr defTabSz="914400">
              <a:lnSpc>
                <a:spcPct val="100000"/>
              </a:lnSpc>
              <a:tabLst>
                <a:tab pos="0" algn="l"/>
              </a:tabLst>
            </a:pPr>
            <a:endParaRPr lang="en-US" sz="1800" b="0" u="none" strike="noStrike">
              <a:solidFill>
                <a:srgbClr val="FFFFFF"/>
              </a:solidFill>
              <a:effectLst/>
              <a:uFillTx/>
              <a:latin typeface="Arial"/>
            </a:endParaRPr>
          </a:p>
          <a:p>
            <a:pPr defTabSz="914400">
              <a:lnSpc>
                <a:spcPct val="100000"/>
              </a:lnSpc>
              <a:tabLst>
                <a:tab pos="0" algn="l"/>
              </a:tabLst>
            </a:pPr>
            <a:r>
              <a:rPr lang="en-US" sz="1800" b="0" u="none" strike="noStrike">
                <a:solidFill>
                  <a:srgbClr val="A3B4CE"/>
                </a:solidFill>
                <a:effectLst/>
                <a:uFillTx/>
                <a:latin typeface="Calibri"/>
                <a:ea typeface="Calibri"/>
              </a:rPr>
              <a:t>Eleven years of daily market data for four companies in the industry, explored live — growth, annual returns, and where the capital concentrated.</a:t>
            </a:r>
            <a:endParaRPr lang="en-US" sz="1800" b="0" u="none" strike="noStrike">
              <a:solidFill>
                <a:srgbClr val="FFFFFF"/>
              </a:solidFill>
              <a:effectLst/>
              <a:uFillTx/>
              <a:latin typeface="Arial"/>
            </a:endParaRPr>
          </a:p>
        </p:txBody>
      </p:sp>
      <p:sp>
        <p:nvSpPr>
          <p:cNvPr id="65" name="Text 4"/>
          <p:cNvSpPr/>
          <p:nvPr/>
        </p:nvSpPr>
        <p:spPr>
          <a:xfrm>
            <a:off x="640080" y="3977640"/>
            <a:ext cx="1088100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E6EDF9"/>
                </a:solidFill>
                <a:effectLst/>
                <a:uFillTx/>
                <a:latin typeface="Calibri"/>
                <a:ea typeface="Calibri"/>
              </a:rPr>
              <a:t>The stock data is here for exploration, not results. But is a visual Aid on the market and stock difference between years and quarters.</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6" name="Text 0"/>
          <p:cNvSpPr/>
          <p:nvPr/>
        </p:nvSpPr>
        <p:spPr>
          <a:xfrm>
            <a:off x="822960" y="2148840"/>
            <a:ext cx="1051524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0" u="none" strike="noStrike">
                <a:solidFill>
                  <a:srgbClr val="A8BBDD"/>
                </a:solidFill>
                <a:effectLst/>
                <a:uFillTx/>
                <a:latin typeface="Cambria"/>
                <a:ea typeface="Cambria"/>
              </a:rPr>
              <a:t>The price of a model stayed flat.</a:t>
            </a:r>
            <a:endParaRPr lang="en-US" sz="3000" b="0" u="none" strike="noStrike">
              <a:solidFill>
                <a:srgbClr val="FFFFFF"/>
              </a:solidFill>
              <a:effectLst/>
              <a:uFillTx/>
              <a:latin typeface="Arial"/>
            </a:endParaRPr>
          </a:p>
        </p:txBody>
      </p:sp>
      <p:sp>
        <p:nvSpPr>
          <p:cNvPr id="67" name="Text 1"/>
          <p:cNvSpPr/>
          <p:nvPr/>
        </p:nvSpPr>
        <p:spPr>
          <a:xfrm>
            <a:off x="822960" y="2880360"/>
            <a:ext cx="1051524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800" b="1" u="none" strike="noStrike">
                <a:solidFill>
                  <a:srgbClr val="FFFFFF"/>
                </a:solidFill>
                <a:effectLst/>
                <a:uFillTx/>
                <a:latin typeface="Cambria"/>
                <a:ea typeface="Cambria"/>
              </a:rPr>
              <a:t>The price of intelligence collapsed.</a:t>
            </a:r>
            <a:endParaRPr lang="en-US" sz="3800" b="0" u="none" strike="noStrike">
              <a:solidFill>
                <a:srgbClr val="FFFFFF"/>
              </a:solidFill>
              <a:effectLst/>
              <a:uFillTx/>
              <a:latin typeface="Arial"/>
            </a:endParaRPr>
          </a:p>
        </p:txBody>
      </p:sp>
      <p:sp>
        <p:nvSpPr>
          <p:cNvPr id="68" name="Shape 2"/>
          <p:cNvSpPr/>
          <p:nvPr/>
        </p:nvSpPr>
        <p:spPr>
          <a:xfrm>
            <a:off x="822960" y="3977640"/>
            <a:ext cx="1279800" cy="45360"/>
          </a:xfrm>
          <a:prstGeom prst="rect">
            <a:avLst/>
          </a:prstGeom>
          <a:solidFill>
            <a:srgbClr val="EB6834"/>
          </a:solidFill>
          <a:ln w="0">
            <a:noFill/>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
        <p:nvSpPr>
          <p:cNvPr id="69" name="Text 3"/>
          <p:cNvSpPr/>
          <p:nvPr/>
        </p:nvSpPr>
        <p:spPr>
          <a:xfrm>
            <a:off x="822960" y="4297680"/>
            <a:ext cx="10515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0" u="none" strike="noStrike">
                <a:solidFill>
                  <a:srgbClr val="C8D3E6"/>
                </a:solidFill>
                <a:effectLst/>
                <a:uFillTx/>
                <a:latin typeface="Calibri"/>
                <a:ea typeface="Calibri"/>
              </a:rPr>
              <a:t>Questions</a:t>
            </a:r>
            <a:endParaRPr lang="en-US" sz="1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LibreOffice/26.2.5.2$Windows_X86_64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2026-08-18T11:16:38Z</dcterms:created>
  <dc:creator>PptxGenJS</dc:creator>
  <dc:description/>
  <dc:language>en-US</dc:language>
  <cp:lastModifiedBy/>
  <dcterms:modified xsi:type="dcterms:W3CDTF">2026-08-25T11:28:12Z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